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73" r:id="rId3"/>
    <p:sldId id="257" r:id="rId4"/>
    <p:sldId id="258" r:id="rId5"/>
    <p:sldId id="259" r:id="rId6"/>
    <p:sldId id="279" r:id="rId7"/>
    <p:sldId id="275" r:id="rId8"/>
    <p:sldId id="276" r:id="rId9"/>
    <p:sldId id="260" r:id="rId10"/>
    <p:sldId id="277" r:id="rId11"/>
    <p:sldId id="278" r:id="rId12"/>
    <p:sldId id="271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2" r:id="rId23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22E09A-0FDC-42E5-B69B-9AAACB6D51B2}" v="4" dt="2026-07-29T02:44:52.3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1" autoAdjust="0"/>
    <p:restoredTop sz="89673" autoAdjust="0"/>
  </p:normalViewPr>
  <p:slideViewPr>
    <p:cSldViewPr snapToGrid="0">
      <p:cViewPr varScale="1">
        <p:scale>
          <a:sx n="74" d="100"/>
          <a:sy n="74" d="100"/>
        </p:scale>
        <p:origin x="811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shmi naurene" userId="2db38a5bf38ea580" providerId="LiveId" clId="{16455290-8C71-40AA-81A1-2309A518DDBC}"/>
    <pc:docChg chg="modSld">
      <pc:chgData name="rashmi naurene" userId="2db38a5bf38ea580" providerId="LiveId" clId="{16455290-8C71-40AA-81A1-2309A518DDBC}" dt="2026-07-29T02:44:52.376" v="9" actId="1076"/>
      <pc:docMkLst>
        <pc:docMk/>
      </pc:docMkLst>
      <pc:sldChg chg="modSp mod">
        <pc:chgData name="rashmi naurene" userId="2db38a5bf38ea580" providerId="LiveId" clId="{16455290-8C71-40AA-81A1-2309A518DDBC}" dt="2026-07-28T18:15:36.989" v="4" actId="20577"/>
        <pc:sldMkLst>
          <pc:docMk/>
          <pc:sldMk cId="0" sldId="256"/>
        </pc:sldMkLst>
        <pc:spChg chg="mod">
          <ac:chgData name="rashmi naurene" userId="2db38a5bf38ea580" providerId="LiveId" clId="{16455290-8C71-40AA-81A1-2309A518DDBC}" dt="2026-07-28T18:15:36.989" v="4" actId="20577"/>
          <ac:spMkLst>
            <pc:docMk/>
            <pc:sldMk cId="0" sldId="256"/>
            <ac:spMk id="3" creationId="{AD02C0E9-6C2F-1861-5414-A4DEC8D1B31D}"/>
          </ac:spMkLst>
        </pc:spChg>
      </pc:sldChg>
      <pc:sldChg chg="modSp mod">
        <pc:chgData name="rashmi naurene" userId="2db38a5bf38ea580" providerId="LiveId" clId="{16455290-8C71-40AA-81A1-2309A518DDBC}" dt="2026-07-29T02:44:52.376" v="9" actId="1076"/>
        <pc:sldMkLst>
          <pc:docMk/>
          <pc:sldMk cId="0" sldId="260"/>
        </pc:sldMkLst>
        <pc:spChg chg="mod">
          <ac:chgData name="rashmi naurene" userId="2db38a5bf38ea580" providerId="LiveId" clId="{16455290-8C71-40AA-81A1-2309A518DDBC}" dt="2026-07-29T02:43:53.752" v="5" actId="1076"/>
          <ac:spMkLst>
            <pc:docMk/>
            <pc:sldMk cId="0" sldId="260"/>
            <ac:spMk id="6" creationId="{9C5911C7-E133-22B4-ACAE-DFB1210AFF5F}"/>
          </ac:spMkLst>
        </pc:spChg>
        <pc:picChg chg="mod">
          <ac:chgData name="rashmi naurene" userId="2db38a5bf38ea580" providerId="LiveId" clId="{16455290-8C71-40AA-81A1-2309A518DDBC}" dt="2026-07-29T02:44:52.376" v="9" actId="1076"/>
          <ac:picMkLst>
            <pc:docMk/>
            <pc:sldMk cId="0" sldId="260"/>
            <ac:picMk id="4" creationId="{2764F8F8-4DFF-877D-D5AE-A94F30BB9BB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1969265-50A2-D4F3-0EC1-042AB4F810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15B4DF-05BE-321E-F634-B1DFD1FEA4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9E2F2A39-3237-4ED4-A2E2-BCA174D32352}" type="datetimeFigureOut">
              <a:rPr lang="en-US"/>
              <a:pPr>
                <a:defRPr/>
              </a:pPr>
              <a:t>7/29/2026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EB6B407-59C0-0B98-A711-F2F7171A32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D9C1466-5FF5-77D9-F40F-B245E20731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D53029-A828-4CAA-8058-4898D0AD78A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452430-1226-A694-8400-BB5046878B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9B7FE150-E61B-43A7-9380-48F1469A063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DABD5-5BA8-D155-8A1A-4F8A9C195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3/27/2025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EE50A-30EE-C50B-42C2-81E6D9A11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CAPSTONE PROJECT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B4ED3-B95E-4792-2C46-838742171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6F3B48-5FE9-4CE4-BE0F-92D7A69A2A5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1355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085C8-F44B-C954-A2CD-342F10960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3/27/2025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C9337-0D18-F376-0DE8-C055CD50D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CAPSTONE PROJECT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EF319-CE26-8C80-0D94-5FD5742DF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83DB4A-6691-4CF7-8F5E-FA329474B24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2308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B3B33-FDAC-09E4-525E-C3186DECB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3/27/2025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44D15-1581-E7AF-D89C-7812FB70C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CAPSTONE PROJECT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BF013-9547-9F14-29C6-7B9666792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EE0F64-4509-46EF-BDF5-D8874711540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2666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3775B3E-F150-987A-0233-DCAA85273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3/27/2025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C15B230-9CDA-57BC-0B47-432A7216C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CAPSTONE PROJECT 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E7BE21C-D1FF-5608-3A04-3B5EDF785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E37055-D08B-4A1E-BE57-36AD3C767F4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3608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16071E7-11CC-2001-D0DE-D3D77A776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3/27/2025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4F2E3FF-1242-A5D4-F34A-10888DEC8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CAPSTONE PROJECT 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085015D-4A98-7814-F71B-B7566DCDC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937C2F-DEBE-4F6C-BD2E-945592EEA79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0880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90EC3F1-9C02-F889-2E72-6D5279F4E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3/27/2025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A292AC6-1B7C-77EA-3132-B69D9FD80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CAPSTONE PROJECT 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7F3470D-BCE6-2099-65E1-730779D24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22B0F0-AEF8-4F81-B431-CC48559FD09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1028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AEDBE4B-0A40-BA92-0830-39CC99934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3/27/2025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846F122-E22B-C39E-13C2-4F19216AF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CAPSTONE PROJECT 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46055A8-0BFF-9B9B-F588-57BAAC49D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A31E9-0A40-4298-88D0-E81F7EB3E6E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2039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9E7B65A-FE5E-E081-19F9-A3CACAFE0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3/27/2025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2822DEC-85A7-C0C9-8163-78E909FAE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CAPSTONE PROJECT 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670570B-9E0F-3272-6117-D35CDC7B5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2397C2-0DE4-46A1-B1E0-5ADD1115A42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799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1C0012F-6B60-6328-4227-86D8E18FB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3/27/2025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EA5ED17-AA70-AAB8-F8A2-6F19619A7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CAPSTONE PROJECT 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B11B83F-707C-A1E2-A0BE-6923E1D89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F2726A-1FD8-438B-8A3B-5E23F2524F1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3654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99264-8E76-F6E3-E3E0-B0F7167DC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3/27/2025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CDA48-548D-5BEB-C0D2-4F72076B8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CAPSTONE PROJECT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979FF-9050-2703-30D7-030E51E2F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C8F186-1D49-4D27-A938-5B2521D15DF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547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CCB79-647F-F109-BA02-42964DBC7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3/27/2025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3621D-D682-8AA8-D407-5CADB15A4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CAPSTONE PROJECT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79721-6009-AF08-D3BE-AE46E93CA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F466A3-2C20-40D4-9C5C-736D56CCA0B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4233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A9245237-9E0E-8C28-9887-97F97AD1EEE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1AA65722-05D9-D5D8-6BE3-E0DC18A80F8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DBFC4-C1A1-5D8B-A498-7DA0D4B34D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3/27/2025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FAF5B-63E1-A99C-C955-82C773B8E1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CAPSTONE PROJECT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D877B-2A23-1DE4-C88F-C1577EA103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717D4B3B-9528-46FA-963B-E255FEF9F04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21A35544-AF17-898D-C5E4-1F5AFA542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093" y="1686346"/>
            <a:ext cx="11173813" cy="1850182"/>
          </a:xfrm>
        </p:spPr>
        <p:txBody>
          <a:bodyPr/>
          <a:lstStyle/>
          <a:p>
            <a:pPr eaLnBrk="1" hangingPunct="1"/>
            <a:r>
              <a:rPr lang="en-US" alt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ReLink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Mobile-Based Similarity Matching Framework for Efficient Lost Item Recovery in Educational Institutions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02C0E9-6C2F-1861-5414-A4DEC8D1B3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9250" y="4246563"/>
            <a:ext cx="11414125" cy="2020887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Monika M -192521435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Rashmi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Naurene -192521357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ITA0301 MOBILE COMPUTING</a:t>
            </a:r>
          </a:p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Faculty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Terrance Frederick Fernandez, </a:t>
            </a:r>
          </a:p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Professor, SIMATS Engineering, SIMATS</a:t>
            </a:r>
          </a:p>
        </p:txBody>
      </p:sp>
      <p:pic>
        <p:nvPicPr>
          <p:cNvPr id="3076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42F3D1BF-0F28-B7BF-1612-AD24E6749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431" y="180067"/>
            <a:ext cx="10037762" cy="103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763A439C-9E77-EF63-36E5-64F5A931E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6593"/>
            <a:ext cx="10515600" cy="636329"/>
          </a:xfrm>
        </p:spPr>
        <p:txBody>
          <a:bodyPr/>
          <a:lstStyle/>
          <a:p>
            <a:pPr algn="ctr"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 </a:t>
            </a:r>
          </a:p>
        </p:txBody>
      </p:sp>
      <p:sp>
        <p:nvSpPr>
          <p:cNvPr id="4099" name="Content Placeholder 2">
            <a:extLst>
              <a:ext uri="{FF2B5EF4-FFF2-40B4-BE49-F238E27FC236}">
                <a16:creationId xmlns:a16="http://schemas.microsoft.com/office/drawing/2014/main" id="{27B8706D-997C-7E3C-BEB8-712AA9C3B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3625"/>
            <a:ext cx="10515600" cy="4821930"/>
          </a:xfrm>
        </p:spPr>
        <p:txBody>
          <a:bodyPr/>
          <a:lstStyle/>
          <a:p>
            <a:pPr eaLnBrk="1" hangingPunct="1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</a:p>
          <a:p>
            <a:pPr eaLnBrk="1" hangingPunct="1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eaLnBrk="1" hangingPunct="1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</a:t>
            </a:r>
          </a:p>
          <a:p>
            <a:pPr eaLnBrk="1" hangingPunct="1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  <a:p>
            <a:pPr eaLnBrk="1" hangingPunct="1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</a:p>
          <a:p>
            <a:pPr eaLnBrk="1" hangingPunct="1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 </a:t>
            </a:r>
          </a:p>
          <a:p>
            <a:pPr eaLnBrk="1" hangingPunct="1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</a:t>
            </a:r>
          </a:p>
          <a:p>
            <a:pPr eaLnBrk="1" hangingPunct="1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 </a:t>
            </a:r>
          </a:p>
          <a:p>
            <a:pPr eaLnBrk="1" hangingPunct="1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  <a:p>
            <a:pPr eaLnBrk="1" hangingPunct="1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  <a:p>
            <a:pPr eaLnBrk="1" hangingPunct="1">
              <a:lnSpc>
                <a:spcPct val="100000"/>
              </a:lnSpc>
            </a:pP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00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96C6D789-F8C5-2E2B-2C67-7027CD0E9C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238" y="52388"/>
            <a:ext cx="5313362" cy="54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6E48DD1-123D-CD66-FE0D-A8926DC4774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7/29/2026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25654ED-A499-98E0-3930-56643A3F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CAPSTONE PROJECT </a:t>
            </a:r>
          </a:p>
        </p:txBody>
      </p:sp>
      <p:sp>
        <p:nvSpPr>
          <p:cNvPr id="4103" name="Slide Number Placeholder 7">
            <a:extLst>
              <a:ext uri="{FF2B5EF4-FFF2-40B4-BE49-F238E27FC236}">
                <a16:creationId xmlns:a16="http://schemas.microsoft.com/office/drawing/2014/main" id="{804DE455-B491-232E-93EE-5BC4AF203E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E5C86EC2-EE93-42F8-BC5E-4CBB1358FBD8}" type="slidenum">
              <a:rPr lang="en-US" altLang="en-US" sz="120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A515847D-91AD-6F70-3D19-45C291925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588" y="706437"/>
            <a:ext cx="10515600" cy="673749"/>
          </a:xfrm>
        </p:spPr>
        <p:txBody>
          <a:bodyPr/>
          <a:lstStyle/>
          <a:p>
            <a:pPr algn="ctr"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EDC340C8-48A1-25F5-D08E-6D8CC45B7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661" y="1253331"/>
            <a:ext cx="11392677" cy="4898232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ReLink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mobile-based lost and found application that enables users to digitally report and recover misplaced belongings within a college campus.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compares lost and found reports using multiple attributes such as images, category, colour, brand, location, and date to identify potential matches.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explainable similarity matching algorithm generates a confidence score and provides users with the reasons behind each suggested match.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incorporates secure verification, private communication, and administrative analytics to improve the efficiency and reliability of the recovery process.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4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8CF67F35-E332-DEA4-7FBE-B03F6B9D8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238" y="52388"/>
            <a:ext cx="5313362" cy="54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E2147A8-01C5-24F4-A56E-62BA7BD26F8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7/29/2026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CC79B2C-99F4-F0A6-C65A-E80318C54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CAPSTONE PROJECT </a:t>
            </a:r>
          </a:p>
        </p:txBody>
      </p:sp>
      <p:sp>
        <p:nvSpPr>
          <p:cNvPr id="5127" name="Slide Number Placeholder 7">
            <a:extLst>
              <a:ext uri="{FF2B5EF4-FFF2-40B4-BE49-F238E27FC236}">
                <a16:creationId xmlns:a16="http://schemas.microsoft.com/office/drawing/2014/main" id="{E9447C73-43D2-7CED-E6FE-02ADF9B459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D58FBE99-20A5-4387-861B-A145ABC715DD}" type="slidenum">
              <a:rPr lang="en-US" altLang="en-US" sz="120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51C849FA-6129-E260-6B0A-EC2792D7C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636329"/>
          </a:xfrm>
        </p:spPr>
        <p:txBody>
          <a:bodyPr/>
          <a:lstStyle/>
          <a:p>
            <a:pPr algn="ctr"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1B6EE93E-1375-8B8F-6DFC-0C3978E25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216" y="1401503"/>
            <a:ext cx="11327364" cy="4351338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Misplacing personal belongings is a common problem in educational institutions, often leading to inconvenience, stress, and loss of valuable items.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lost and found methods rely on notice boards, social media posts, or manual enquiries, which are often slow and unorganised.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absence of an intelligent matching mechanism makes it difficult for users to identify whether a reported found item belongs to them.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centralized mobile application can significantly improve communication, reduce recovery time, and increase the chances of successfully returning lost items. </a:t>
            </a:r>
          </a:p>
        </p:txBody>
      </p:sp>
      <p:pic>
        <p:nvPicPr>
          <p:cNvPr id="6148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0F7169A1-7569-9D41-1905-0049917C7F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175" y="52388"/>
            <a:ext cx="5313363" cy="54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3074E8-40F0-0AD7-2FF2-8E2B7FB88CD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7/29/2026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58E88D-32E0-C1A5-B145-50B9D8C58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CAPSTONE PROJECT </a:t>
            </a:r>
          </a:p>
        </p:txBody>
      </p:sp>
      <p:sp>
        <p:nvSpPr>
          <p:cNvPr id="6151" name="Slide Number Placeholder 6">
            <a:extLst>
              <a:ext uri="{FF2B5EF4-FFF2-40B4-BE49-F238E27FC236}">
                <a16:creationId xmlns:a16="http://schemas.microsoft.com/office/drawing/2014/main" id="{C4A4C326-EDAA-1765-E088-7D053FD14A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DCB4BDA5-8609-4B0F-959F-8AAB570523B5}" type="slidenum">
              <a:rPr lang="en-US" altLang="en-US" sz="120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C2790-6E94-80B9-7A15-124891C58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5163"/>
            <a:ext cx="10515600" cy="666750"/>
          </a:xfrm>
        </p:spPr>
        <p:txBody>
          <a:bodyPr rtlCol="0"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</a:t>
            </a:r>
          </a:p>
        </p:txBody>
      </p:sp>
      <p:pic>
        <p:nvPicPr>
          <p:cNvPr id="8195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5C0CE9AD-50BB-E03C-8542-76E24E7314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6563" y="52388"/>
            <a:ext cx="5313362" cy="54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F8A9639-2462-6523-7362-1126FA41FB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3094554"/>
              </p:ext>
            </p:extLst>
          </p:nvPr>
        </p:nvGraphicFramePr>
        <p:xfrm>
          <a:off x="217714" y="1331913"/>
          <a:ext cx="11756572" cy="45166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12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1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0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11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41964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 marL="91430" marR="91430" marT="45710" marB="4571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DETAILS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THE JOURNAL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0" marR="91430" marT="45710" marB="4571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 / METHODOLOGY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USED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0" marR="91430" marT="45710" marB="4571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</a:p>
                  </a:txBody>
                  <a:tcPr marL="91430" marR="91430" marT="45710" marB="4571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 ADVANTAGES</a:t>
                      </a:r>
                    </a:p>
                  </a:txBody>
                  <a:tcPr marL="91430" marR="91430" marT="45710" marB="4571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27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30" marR="91430" marT="45710" marB="4571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Feng, Y., Wang, Y., Wang, X., Zhao, B., Bi, J., Han, S. and Luo, Y., 2026. Food additive lens: an on-device AI application for real-time science-based consumer education on food additives using retrieval-augmented generation. </a:t>
                      </a:r>
                      <a:r>
                        <a:rPr lang="en-IN" sz="12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Digital Discovery</a:t>
                      </a:r>
                      <a:r>
                        <a:rPr lang="en-IN" sz="12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 </a:t>
                      </a:r>
                      <a:r>
                        <a:rPr lang="en-IN" sz="12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IN" sz="12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(3), pp.1172-1190.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0" marR="91430" marT="45710" marB="4571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proposed system implements a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three-agent AI architecture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consisting of a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Food Category Classifier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Additive Identifier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and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Explanation Generator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It utilizes an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on-device quantized Llama 3.2 3B Large Language Model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Retrieval-Augmented Generation (RAG)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Optical Character Recognition (OCR)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and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Model-View-</a:t>
                      </a:r>
                      <a:r>
                        <a:rPr lang="en-IN" sz="12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ViewModel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(MVVM)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architecture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0" marR="91430" marT="45710" marB="4571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Preserves user privacy by performing all AI processing offline on the device.</a:t>
                      </a:r>
                      <a:b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RAG reduces hallucinations by grounding responses in authoritative FDA and USDA databases.</a:t>
                      </a:r>
                      <a:b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Generates explainable and context-aware information instead of simple predictions.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0" marR="91430" marT="45710" marB="4571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Requires powerful mobile hardware to efficiently execute on-device AI models.</a:t>
                      </a:r>
                      <a:b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Large AI models consume considerable device storage and memory.</a:t>
                      </a:r>
                      <a:b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The system is specialized for food additive analysis and requires domain adaptation for other applications.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0" marR="91430" marT="45710" marB="4571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279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30" marR="91430" marT="45710" marB="4571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Prashanth, G. K., U. Uday Kumar, B. G. </a:t>
                      </a:r>
                      <a:r>
                        <a:rPr lang="en-IN" sz="12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Premasudha</a:t>
                      </a:r>
                      <a:r>
                        <a:rPr lang="en-IN" sz="12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N. L. Rajesh, and N. Vinothini. "Mobile Technology for Efficient Lost and Found Item Retrieval Using GIS Based Approach." In </a:t>
                      </a:r>
                      <a:r>
                        <a:rPr lang="en-IN" sz="12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2025 3rd International Conference on Smart Systems for applications in Electrical Sciences (ICSSES)</a:t>
                      </a:r>
                      <a:r>
                        <a:rPr lang="en-IN" sz="12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pp. 1-5. IEEE, 2025.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0" marR="91430" marT="45710" marB="4571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GIS-based mobile application integrating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Firebase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Esri Maps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real-time GPS location services,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proximity-based notifications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and a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Fuzzy Matching Algorithm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compare lost and found reports based on similarity.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0" marR="91430" marT="45710" marB="4571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Integrates GIS for accurate location tracking.</a:t>
                      </a:r>
                      <a:b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Fuzzy matching improves the probability of identifying related lost and found items.</a:t>
                      </a:r>
                      <a:b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Real-time notifications enhance recovery speed.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0" marR="91430" marT="45710" marB="4571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 GPS usage may increase battery consumption.</a:t>
                      </a:r>
                      <a:b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Requires a stable internet connection for real-time synchronization.</a:t>
                      </a:r>
                      <a:b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Limited explainability of the matching results compared to newer AI-based approaches.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0" marR="91430" marT="45710" marB="4571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15AC2B-094C-E0F6-C7A9-3C7AAA3295D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632927" y="6542346"/>
            <a:ext cx="27432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7/29/2026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FA6805-C517-B1FF-FF61-D5056F527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82157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CAPSTONE PROJECT </a:t>
            </a:r>
          </a:p>
        </p:txBody>
      </p:sp>
      <p:sp>
        <p:nvSpPr>
          <p:cNvPr id="8242" name="Slide Number Placeholder 8">
            <a:extLst>
              <a:ext uri="{FF2B5EF4-FFF2-40B4-BE49-F238E27FC236}">
                <a16:creationId xmlns:a16="http://schemas.microsoft.com/office/drawing/2014/main" id="{7A2A3258-EC23-B825-2090-2FC46B48AD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125339" y="6530918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9D9DA76B-BF6D-48FC-AC1C-FF2F20C5EEF5}" type="slidenum">
              <a:rPr lang="en-US" altLang="en-US" sz="120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879BF-40AD-329F-8FC2-E3EA3063E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A39B-4656-A448-0053-0723D2C3C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5163"/>
            <a:ext cx="10515600" cy="666750"/>
          </a:xfrm>
        </p:spPr>
        <p:txBody>
          <a:bodyPr rtlCol="0"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</a:t>
            </a:r>
          </a:p>
        </p:txBody>
      </p:sp>
      <p:pic>
        <p:nvPicPr>
          <p:cNvPr id="8195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132E3939-E42F-EBA3-8E3E-A05B71ED5B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6563" y="52388"/>
            <a:ext cx="5313362" cy="54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CAAC98D-D3B0-1DEF-C739-44C5EA0943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3150041"/>
              </p:ext>
            </p:extLst>
          </p:nvPr>
        </p:nvGraphicFramePr>
        <p:xfrm>
          <a:off x="217714" y="1331913"/>
          <a:ext cx="11756572" cy="46995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1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0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0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11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41964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 marL="91430" marR="91430" marT="45710" marB="4571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DETAILS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THE JOURNAL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0" marR="91430" marT="45710" marB="4571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 / METHODOLOGY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USED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0" marR="91430" marT="45710" marB="4571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</a:p>
                  </a:txBody>
                  <a:tcPr marL="91430" marR="91430" marT="45710" marB="4571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 ADVANTAGES</a:t>
                      </a:r>
                    </a:p>
                  </a:txBody>
                  <a:tcPr marL="91430" marR="91430" marT="45710" marB="4571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714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30" marR="91430" marT="45710" marB="4571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Allheeib</a:t>
                      </a:r>
                      <a:r>
                        <a:rPr lang="en-IN" sz="12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Nasser Ibrahim. "</a:t>
                      </a:r>
                      <a:r>
                        <a:rPr lang="en-IN" sz="12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Mafqodat</a:t>
                      </a:r>
                      <a:r>
                        <a:rPr lang="en-IN" sz="12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A Secure and Safe Mobile Application to Retrieve Lost Items in Educational Institutes." In </a:t>
                      </a:r>
                      <a:r>
                        <a:rPr lang="en-IN" sz="12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2024 12th International Conference on Information and Communication Technology (</a:t>
                      </a:r>
                      <a:r>
                        <a:rPr lang="en-IN" sz="1200" b="0" i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ICoICT</a:t>
                      </a:r>
                      <a:r>
                        <a:rPr lang="en-IN" sz="12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IN" sz="12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pp. 368-373. IEEE, 2024.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0" marR="91430" marT="45710" marB="4571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proposed system is a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mobile-based lost and found platform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developed for educational institutions. It enables users to report lost and found items, communicate through the application, verify ownership before returning an item, and send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 radius-based notifications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users near the reported location.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0" marR="91430" marT="45710" marB="4571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a dedicated platform for managing lost and found items within a university campus.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direct communication between the owner and finder through the application.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0" marR="91430" marT="45710" marB="4571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Relies mainly on user-reported information and manual verification.</a:t>
                      </a:r>
                      <a:b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Does not implement intelligent similarity matching or image-based comparison.</a:t>
                      </a:r>
                      <a:b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Matching depends on users identifying relevant posts themselves.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0" marR="91430" marT="45710" marB="4571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714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30" marR="91430" marT="45710" marB="4571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Karthik, P., Rajesh, R., Nithin Kumar, T. and Kiran, S., 2025, July. Content-Based Fashion Image Retrieval in Android Applications using Artificial Neural Networks. In </a:t>
                      </a:r>
                      <a:r>
                        <a:rPr lang="en-IN" sz="12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2025 8th International Conference on Computing Methodologies and Communication (ICCMC)</a:t>
                      </a:r>
                      <a:r>
                        <a:rPr lang="en-IN" sz="12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(pp. 1568-1573). IEEE.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0" marR="91430" marT="45710" marB="4571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proposed system implements a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Content-Based Image Retrieval (CBIR)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framework using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Convolutional Neural Networks (CNNs)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Artificial Neural Networks (ANNs)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feature extraction. The extracted image features are compared using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Cosine Similarity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Euclidean Distance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0" marR="91430" marT="45710" marB="4571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Achieves high retrieval accuracy (approximately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95.99%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).</a:t>
                      </a:r>
                      <a:b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Deep learning extracts rich visual features such as colour, texture, and shape.</a:t>
                      </a:r>
                      <a:b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Provides fast and intuitive image-based searching instead of relying on text keywords.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0" marR="91430" marT="45710" marB="4571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Requires a large labelled dataset and significant computational resources for training.</a:t>
                      </a:r>
                      <a:b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Model performance depends on the quality and diversity of training images.</a:t>
                      </a:r>
                      <a:b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Primarily focuses on fashion products and may not generalize well to other object categories without retraining.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0" marR="91430" marT="45710" marB="4571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E35AFA-8FFF-CC95-D398-78C158E65F7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632927" y="6542346"/>
            <a:ext cx="27432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7/29/2026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7302A7-509A-C0A7-D251-AAE411A30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82157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CAPSTONE PROJECT </a:t>
            </a:r>
          </a:p>
        </p:txBody>
      </p:sp>
      <p:sp>
        <p:nvSpPr>
          <p:cNvPr id="8242" name="Slide Number Placeholder 8">
            <a:extLst>
              <a:ext uri="{FF2B5EF4-FFF2-40B4-BE49-F238E27FC236}">
                <a16:creationId xmlns:a16="http://schemas.microsoft.com/office/drawing/2014/main" id="{F01D8FEF-B02F-22A6-DD09-1604AD8271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125339" y="6530918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9D9DA76B-BF6D-48FC-AC1C-FF2F20C5EEF5}" type="slidenum">
              <a:rPr lang="en-US" altLang="en-US" sz="120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6978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69062DB9-234A-755E-8185-225BDABB8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6287"/>
            <a:ext cx="10515600" cy="544512"/>
          </a:xfrm>
        </p:spPr>
        <p:txBody>
          <a:bodyPr/>
          <a:lstStyle/>
          <a:p>
            <a:pPr algn="ctr"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13F277AA-359F-25BE-F62D-4A840729A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894" y="1500186"/>
            <a:ext cx="11290041" cy="4351338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lost and found systems require users to manually browse through numerous reports, making the recovery process time-consuming and inefficient.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available solutions lack intelligent matching techniques and therefore fail to accurately identify similar lost and found items.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absence of a secure verification process increases the possibility of false ownership claims and incorrect item handovers.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intelligent mobile application that automates item matching while ensuring transparency, security, and ease of use. </a:t>
            </a:r>
          </a:p>
        </p:txBody>
      </p:sp>
      <p:pic>
        <p:nvPicPr>
          <p:cNvPr id="9220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FBE6D06C-F29C-DC5A-F512-7B7D3F954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175" y="52388"/>
            <a:ext cx="5313363" cy="54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AD9948-2B1C-980A-FE47-B77D3434132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7/29/2026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7469B5-3757-5913-B835-F851326EB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CAPSTONE PROJECT </a:t>
            </a:r>
          </a:p>
        </p:txBody>
      </p:sp>
      <p:sp>
        <p:nvSpPr>
          <p:cNvPr id="9223" name="Slide Number Placeholder 6">
            <a:extLst>
              <a:ext uri="{FF2B5EF4-FFF2-40B4-BE49-F238E27FC236}">
                <a16:creationId xmlns:a16="http://schemas.microsoft.com/office/drawing/2014/main" id="{CC9C4397-F42E-A6CD-BAD6-A41BB27FDA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C81B4E0D-5253-46A3-B54E-D0C592812DD8}" type="slidenum">
              <a:rPr lang="en-US" altLang="en-US" sz="120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75E2A-514E-916F-E0A0-9E5E81688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770" y="789783"/>
            <a:ext cx="10515600" cy="544512"/>
          </a:xfrm>
        </p:spPr>
        <p:txBody>
          <a:bodyPr rtlCol="0"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CAPSTONE PROJECT 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FC3488EE-CB55-CE97-638B-4DB98F6A0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893" y="1376363"/>
            <a:ext cx="11355355" cy="4351338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mobile application that allows users to digitally report lost and found items in a structured manner.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an intelligent similarity matching system that compares reports using multiple item attributes.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an explainable confidence score that helps users understand why a particular match has been suggested.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secure ownership verification before an item is returned to its rightful owner.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44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E6B4A1D5-35C9-2FC5-816D-7E18D47D0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175" y="52388"/>
            <a:ext cx="5313363" cy="54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4AE79A-DC73-CCFC-8ED8-A14BCB7AECA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7/29/2026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0A39E0-6B16-E11A-F45C-042F2F2FF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CAPSTONE PROJECT </a:t>
            </a:r>
          </a:p>
        </p:txBody>
      </p:sp>
      <p:sp>
        <p:nvSpPr>
          <p:cNvPr id="10247" name="Slide Number Placeholder 6">
            <a:extLst>
              <a:ext uri="{FF2B5EF4-FFF2-40B4-BE49-F238E27FC236}">
                <a16:creationId xmlns:a16="http://schemas.microsoft.com/office/drawing/2014/main" id="{39BE143C-01BB-DD24-F985-EE17F05D4F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358B2A42-CDB1-4715-9EB7-0A0F87059DD5}" type="slidenum">
              <a:rPr lang="en-US" altLang="en-US" sz="120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8C918-6A94-5EEE-41AF-29FD82642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65163"/>
            <a:ext cx="11353800" cy="1025525"/>
          </a:xfrm>
        </p:spPr>
        <p:txBody>
          <a:bodyPr rtlCol="0"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 – ARCHITECTURE DIAGRAM </a:t>
            </a:r>
          </a:p>
        </p:txBody>
      </p:sp>
      <p:pic>
        <p:nvPicPr>
          <p:cNvPr id="11267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F010406D-2C44-FE7B-5A32-313A1F617E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175" y="52388"/>
            <a:ext cx="5313363" cy="54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764F8F8-4DFF-877D-D5AE-A94F30BB9B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" y="1805782"/>
            <a:ext cx="8915399" cy="4351338"/>
          </a:xfr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C5911C7-E133-22B4-ACAE-DFB1210AFF5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767080" y="6440487"/>
            <a:ext cx="27432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7/29/2026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3B94BFF-30E7-96BA-8631-4EAF577F9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CAPSTONE PROJECT </a:t>
            </a:r>
          </a:p>
        </p:txBody>
      </p:sp>
      <p:sp>
        <p:nvSpPr>
          <p:cNvPr id="11271" name="Slide Number Placeholder 7">
            <a:extLst>
              <a:ext uri="{FF2B5EF4-FFF2-40B4-BE49-F238E27FC236}">
                <a16:creationId xmlns:a16="http://schemas.microsoft.com/office/drawing/2014/main" id="{5F7BA7B8-AEDE-AF3A-0984-51FAAF1A1B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C7725680-0F77-4102-8C63-FB647D336E4D}" type="slidenum">
              <a:rPr lang="en-US" altLang="en-US" sz="120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F175B68A-5A59-9848-DB35-292D04A97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572" y="776287"/>
            <a:ext cx="10515600" cy="664321"/>
          </a:xfrm>
        </p:spPr>
        <p:txBody>
          <a:bodyPr/>
          <a:lstStyle/>
          <a:p>
            <a:pPr algn="ctr"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THE RESEARCH 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65D9040F-D2F1-0AEC-B802-CCFC55589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901" y="1440607"/>
            <a:ext cx="11476653" cy="4820233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can be implemented in colleges and universities to efficiently manage lost and found belongings.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can also be adopted in corporate offices to simplify the recovery of employee belongings.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public environments such as shopping malls, hospitals, libraries, airports, and railway stations can use the platform to organise lost property management.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scalable architecture enables the system to be deployed across multiple institutions with centralized administration.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292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95358412-A88D-2D57-07AF-747C2D35A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175" y="52388"/>
            <a:ext cx="5313363" cy="54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DF58E9-710C-A096-C6A3-3F015420AB9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7/29/2026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BEFED6-3AB7-49A1-3BC4-B7B65E146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CAPSTONE PROJECT </a:t>
            </a:r>
          </a:p>
        </p:txBody>
      </p:sp>
      <p:sp>
        <p:nvSpPr>
          <p:cNvPr id="12295" name="Slide Number Placeholder 6">
            <a:extLst>
              <a:ext uri="{FF2B5EF4-FFF2-40B4-BE49-F238E27FC236}">
                <a16:creationId xmlns:a16="http://schemas.microsoft.com/office/drawing/2014/main" id="{0674674A-8697-6052-6A06-1970E69CF5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52FE8927-837E-477D-AAF5-E515D54CE524}" type="slidenum">
              <a:rPr lang="en-US" altLang="en-US" sz="120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5704A958-6BF6-A1FA-F7C4-36CDCEC1A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98763"/>
            <a:ext cx="10515600" cy="1025525"/>
          </a:xfrm>
        </p:spPr>
        <p:txBody>
          <a:bodyPr/>
          <a:lstStyle/>
          <a:p>
            <a:pPr algn="ctr" eaLnBrk="1" hangingPunct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PROJECT DEMO </a:t>
            </a:r>
          </a:p>
        </p:txBody>
      </p:sp>
      <p:pic>
        <p:nvPicPr>
          <p:cNvPr id="13315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6F2817A5-204E-45AD-EE06-F7FF66A717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175" y="52388"/>
            <a:ext cx="5313363" cy="54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6388F8-92F1-1389-63EF-F32095B0AA1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7/29/2026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E8D4C2-738C-C20D-2E95-94E821C7F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CAPSTONE PROJECT </a:t>
            </a:r>
          </a:p>
        </p:txBody>
      </p:sp>
      <p:sp>
        <p:nvSpPr>
          <p:cNvPr id="13318" name="Slide Number Placeholder 6">
            <a:extLst>
              <a:ext uri="{FF2B5EF4-FFF2-40B4-BE49-F238E27FC236}">
                <a16:creationId xmlns:a16="http://schemas.microsoft.com/office/drawing/2014/main" id="{5E50ADE3-EBC3-D46C-6A87-10FE63F7C7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6E3C6753-D124-4EF6-AB49-FFA16604BA79}" type="slidenum">
              <a:rPr lang="en-US" altLang="en-US" sz="120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A018D-B85D-F1B7-A166-3596DE7DC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5163"/>
            <a:ext cx="10515600" cy="1025525"/>
          </a:xfrm>
        </p:spPr>
        <p:txBody>
          <a:bodyPr rtlCol="0"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ABOUT THE DATASETS USED (IF AVAILABLE / OR ELSE DELETE THIS) 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15170B5C-CCB2-7718-AFCF-47CB9CA71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 POINT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 POINT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 POINT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 POINT</a:t>
            </a:r>
          </a:p>
        </p:txBody>
      </p:sp>
      <p:pic>
        <p:nvPicPr>
          <p:cNvPr id="14340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DE0104AD-3570-98EF-3F3F-4003F586E2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175" y="52388"/>
            <a:ext cx="5313363" cy="54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65000C-CE3D-CDE7-8DBB-668BFBA3D50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3/27/2025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AA64F4-93EF-9F01-FDBC-772A79538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CAPSTONE PROJECT </a:t>
            </a:r>
          </a:p>
        </p:txBody>
      </p:sp>
      <p:sp>
        <p:nvSpPr>
          <p:cNvPr id="14343" name="Slide Number Placeholder 6">
            <a:extLst>
              <a:ext uri="{FF2B5EF4-FFF2-40B4-BE49-F238E27FC236}">
                <a16:creationId xmlns:a16="http://schemas.microsoft.com/office/drawing/2014/main" id="{2CEDC837-7FA5-13B6-13FF-9A8DFB3BE0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D1344EE1-2463-4986-A7F0-591862FE973C}" type="slidenum">
              <a:rPr lang="en-US" altLang="en-US" sz="120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B5C485F5-5100-892C-B417-7BF30771C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5163"/>
            <a:ext cx="10515600" cy="1025525"/>
          </a:xfrm>
        </p:spPr>
        <p:txBody>
          <a:bodyPr/>
          <a:lstStyle/>
          <a:p>
            <a:pPr algn="ctr" eaLnBrk="1" hangingPunct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STEPS OF PROPOSED METHODOLOGY 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6C9EF093-266C-DB29-81AE-E45DE3539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 POINT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 POINT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 POINT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 POINT</a:t>
            </a:r>
          </a:p>
        </p:txBody>
      </p:sp>
      <p:pic>
        <p:nvPicPr>
          <p:cNvPr id="15364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79436037-1BD8-8E98-096E-8D7C8B833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175" y="52388"/>
            <a:ext cx="5313363" cy="54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11DFBE-3389-9290-E2F0-B43D1875931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3/27/2025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945D0C-C626-27DD-D2E2-1FEDDE273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CAPSTONE PROJECT </a:t>
            </a:r>
          </a:p>
        </p:txBody>
      </p:sp>
      <p:sp>
        <p:nvSpPr>
          <p:cNvPr id="15367" name="Slide Number Placeholder 6">
            <a:extLst>
              <a:ext uri="{FF2B5EF4-FFF2-40B4-BE49-F238E27FC236}">
                <a16:creationId xmlns:a16="http://schemas.microsoft.com/office/drawing/2014/main" id="{92E89717-8225-596A-4DA2-763E94218D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6EBAC7A2-EBAC-47E4-A847-0D013C57B145}" type="slidenum">
              <a:rPr lang="en-US" altLang="en-US" sz="120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711F1E14-F3A0-B8CE-D2ED-F5DE07AA6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5163"/>
            <a:ext cx="10515600" cy="1025525"/>
          </a:xfrm>
        </p:spPr>
        <p:txBody>
          <a:bodyPr/>
          <a:lstStyle/>
          <a:p>
            <a:pPr algn="ctr" eaLnBrk="1" hangingPunct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STEPS OF PROPOSED METHODOLOGY 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99A95ABD-D053-D345-A047-3151F583A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 POINT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 POINT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 POINT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 POINT</a:t>
            </a:r>
          </a:p>
        </p:txBody>
      </p:sp>
      <p:pic>
        <p:nvPicPr>
          <p:cNvPr id="16388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CED64F56-98F5-24FA-32C7-3C33738F0D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175" y="52388"/>
            <a:ext cx="5313363" cy="54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8B019F-FA8A-AF81-1B5F-DC92807DEAB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3/27/2025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3A2E7-62B5-28B4-CB47-E3C5D2541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CAPSTONE PROJECT </a:t>
            </a:r>
          </a:p>
        </p:txBody>
      </p:sp>
      <p:sp>
        <p:nvSpPr>
          <p:cNvPr id="16391" name="Slide Number Placeholder 6">
            <a:extLst>
              <a:ext uri="{FF2B5EF4-FFF2-40B4-BE49-F238E27FC236}">
                <a16:creationId xmlns:a16="http://schemas.microsoft.com/office/drawing/2014/main" id="{48047446-B94D-FED7-FA22-787FC2F55F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953F8BD2-ED43-483F-9089-EAF8171CADD9}" type="slidenum">
              <a:rPr lang="en-US" altLang="en-US" sz="120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99EEE5A8-70C4-2D9D-DDC0-A7943E647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5163"/>
            <a:ext cx="10515600" cy="1025525"/>
          </a:xfrm>
        </p:spPr>
        <p:txBody>
          <a:bodyPr/>
          <a:lstStyle/>
          <a:p>
            <a:pPr algn="ctr" eaLnBrk="1" hangingPunct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STEPS OF PROPOSED METHODOLOGY 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B0BC2C10-E24A-27FA-3CC1-F28FE2ABA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 POINT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 POINT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 POINT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 POINT</a:t>
            </a:r>
          </a:p>
        </p:txBody>
      </p:sp>
      <p:pic>
        <p:nvPicPr>
          <p:cNvPr id="17412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7ECEE865-0849-5FB2-BA29-26B956232E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175" y="52388"/>
            <a:ext cx="5313363" cy="54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71D1D0-52FE-2CA2-AC38-7A11DEB0B96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3/27/2025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C69759-E2C9-9409-C647-50529374C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CAPSTONE PROJECT </a:t>
            </a:r>
          </a:p>
        </p:txBody>
      </p:sp>
      <p:sp>
        <p:nvSpPr>
          <p:cNvPr id="17415" name="Slide Number Placeholder 6">
            <a:extLst>
              <a:ext uri="{FF2B5EF4-FFF2-40B4-BE49-F238E27FC236}">
                <a16:creationId xmlns:a16="http://schemas.microsoft.com/office/drawing/2014/main" id="{D7415A52-022E-70F7-E2DD-A60BBC7656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4D6F2330-76D2-4768-8744-908B77A7347A}" type="slidenum">
              <a:rPr lang="en-US" altLang="en-US" sz="120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1275C208-6EAD-ED0B-AA89-687F6E187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5163"/>
            <a:ext cx="10515600" cy="1025525"/>
          </a:xfrm>
        </p:spPr>
        <p:txBody>
          <a:bodyPr/>
          <a:lstStyle/>
          <a:p>
            <a:pPr algn="ctr" eaLnBrk="1" hangingPunct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10A3C85C-B78E-9F8F-EB29-FD422D145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 POINT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 POINT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 POINT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 POINT</a:t>
            </a:r>
          </a:p>
        </p:txBody>
      </p:sp>
      <p:pic>
        <p:nvPicPr>
          <p:cNvPr id="18436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68D8D672-4C05-8BF2-28EB-423CC76AF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175" y="52388"/>
            <a:ext cx="5313363" cy="54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F056FB-5860-A3E0-00F2-18ABE4897AC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3/27/2025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BE7F4-8ED1-21A8-E809-C79A92F01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CAPSTONE PROJECT </a:t>
            </a:r>
          </a:p>
        </p:txBody>
      </p:sp>
      <p:sp>
        <p:nvSpPr>
          <p:cNvPr id="18439" name="Slide Number Placeholder 6">
            <a:extLst>
              <a:ext uri="{FF2B5EF4-FFF2-40B4-BE49-F238E27FC236}">
                <a16:creationId xmlns:a16="http://schemas.microsoft.com/office/drawing/2014/main" id="{93247B51-477B-44C6-2F26-E460425D78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D029C0CA-7753-4A8A-9BE4-E0FE8A925D7E}" type="slidenum">
              <a:rPr lang="en-US" altLang="en-US" sz="120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7037ABAD-A165-1627-85C6-7A8D620BE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5163"/>
            <a:ext cx="10515600" cy="1025525"/>
          </a:xfrm>
        </p:spPr>
        <p:txBody>
          <a:bodyPr/>
          <a:lstStyle/>
          <a:p>
            <a:pPr algn="ctr" eaLnBrk="1" hangingPunct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F767DF83-4889-F625-54C4-2B9BD2F0E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 POINT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 POINT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 POINT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 POINT</a:t>
            </a:r>
          </a:p>
        </p:txBody>
      </p:sp>
      <p:pic>
        <p:nvPicPr>
          <p:cNvPr id="19460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7620B796-E343-B779-AAEF-BE72395B1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175" y="52388"/>
            <a:ext cx="5313363" cy="54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A29575-9A6F-218E-FD28-FC98EA4B06F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3/27/2025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831EB-5466-42E6-1C27-DDBD135F8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CAPSTONE PROJECT </a:t>
            </a:r>
          </a:p>
        </p:txBody>
      </p:sp>
      <p:sp>
        <p:nvSpPr>
          <p:cNvPr id="19463" name="Slide Number Placeholder 6">
            <a:extLst>
              <a:ext uri="{FF2B5EF4-FFF2-40B4-BE49-F238E27FC236}">
                <a16:creationId xmlns:a16="http://schemas.microsoft.com/office/drawing/2014/main" id="{C02FA9A9-6FB1-326E-48FD-67EE9738C9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945F2C6F-91B7-4DF2-BD82-9B6BAA37EDF7}" type="slidenum">
              <a:rPr lang="en-US" altLang="en-US" sz="120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4447760C-7D5B-499B-EF79-D3BEC8ED7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5163"/>
            <a:ext cx="10515600" cy="1025525"/>
          </a:xfrm>
        </p:spPr>
        <p:txBody>
          <a:bodyPr/>
          <a:lstStyle/>
          <a:p>
            <a:pPr algn="ctr" eaLnBrk="1" hangingPunct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COMPARISON AND ANALYSIS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D8B9416D-2313-02F7-297B-9E42EC1D5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 POINT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 POINT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 POINT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 POINT</a:t>
            </a:r>
          </a:p>
        </p:txBody>
      </p:sp>
      <p:pic>
        <p:nvPicPr>
          <p:cNvPr id="20484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DCF2831D-3180-80CA-06E9-B8BB086C15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175" y="52388"/>
            <a:ext cx="5313363" cy="54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9FAE90-5DF2-3A5F-681F-AFF4C9C1281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3/27/2025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21103B-89B6-95A7-7064-0CFD8DC91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CAPSTONE PROJECT </a:t>
            </a:r>
          </a:p>
        </p:txBody>
      </p:sp>
      <p:sp>
        <p:nvSpPr>
          <p:cNvPr id="20487" name="Slide Number Placeholder 6">
            <a:extLst>
              <a:ext uri="{FF2B5EF4-FFF2-40B4-BE49-F238E27FC236}">
                <a16:creationId xmlns:a16="http://schemas.microsoft.com/office/drawing/2014/main" id="{0A40D2DE-271C-2F03-E76D-9ED625F744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85E100D4-68CE-496A-BB9A-E578FCA73709}" type="slidenum">
              <a:rPr lang="en-US" altLang="en-US" sz="120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5E401BE6-AA5B-ACC8-5785-2A6113BF4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5163"/>
            <a:ext cx="10515600" cy="1025525"/>
          </a:xfrm>
        </p:spPr>
        <p:txBody>
          <a:bodyPr/>
          <a:lstStyle/>
          <a:p>
            <a:pPr algn="ctr" eaLnBrk="1" hangingPunct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6A4B021D-3B8E-0309-75F3-8E0116A5C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 POINT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 POINT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 POINT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 POINT</a:t>
            </a:r>
          </a:p>
        </p:txBody>
      </p:sp>
      <p:pic>
        <p:nvPicPr>
          <p:cNvPr id="21508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70834CB2-B4AF-B41F-69FA-10A4856B0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175" y="52388"/>
            <a:ext cx="5313363" cy="54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39014-A9AA-48E4-EBBE-E8A448A506F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3/27/2025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3A757C-9DBA-9CCA-FE68-A986A5140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CAPSTONE PROJECT </a:t>
            </a:r>
          </a:p>
        </p:txBody>
      </p:sp>
      <p:sp>
        <p:nvSpPr>
          <p:cNvPr id="21511" name="Slide Number Placeholder 6">
            <a:extLst>
              <a:ext uri="{FF2B5EF4-FFF2-40B4-BE49-F238E27FC236}">
                <a16:creationId xmlns:a16="http://schemas.microsoft.com/office/drawing/2014/main" id="{58D8B17C-2608-698A-5F46-EA4079406F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38C95965-4959-4E7B-86AB-895A60B8DBF2}" type="slidenum">
              <a:rPr lang="en-US" altLang="en-US" sz="120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FA5FED60-2C9D-080F-F01F-F322E82EF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5163"/>
            <a:ext cx="10515600" cy="1025525"/>
          </a:xfrm>
        </p:spPr>
        <p:txBody>
          <a:bodyPr/>
          <a:lstStyle/>
          <a:p>
            <a:pPr algn="ctr" eaLnBrk="1" hangingPunct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97279DF0-B195-115C-A3F8-3E1CBFBBD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 POINT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 POINT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 POINT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 POINT</a:t>
            </a:r>
          </a:p>
        </p:txBody>
      </p:sp>
      <p:pic>
        <p:nvPicPr>
          <p:cNvPr id="22532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59D85A8F-61F1-8E61-8311-92E0549BB3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175" y="52388"/>
            <a:ext cx="5313363" cy="54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A32869-F509-620E-3FFF-A14E224C737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3/27/2025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BD9940-E0E3-1E11-0BF9-03DEF7E3D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CAPSTONE PROJECT </a:t>
            </a:r>
          </a:p>
        </p:txBody>
      </p:sp>
      <p:sp>
        <p:nvSpPr>
          <p:cNvPr id="22535" name="Slide Number Placeholder 6">
            <a:extLst>
              <a:ext uri="{FF2B5EF4-FFF2-40B4-BE49-F238E27FC236}">
                <a16:creationId xmlns:a16="http://schemas.microsoft.com/office/drawing/2014/main" id="{4A8CE8B8-C8C9-9A68-C713-0164187DDC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632B90FE-ABDB-4BAB-ADD2-C3D74F224D48}" type="slidenum">
              <a:rPr lang="en-US" altLang="en-US" sz="120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FC813BAE-138D-1122-C85B-5689B2D69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5163"/>
            <a:ext cx="10515600" cy="1025525"/>
          </a:xfrm>
        </p:spPr>
        <p:txBody>
          <a:bodyPr/>
          <a:lstStyle/>
          <a:p>
            <a:pPr algn="ctr" eaLnBrk="1" hangingPunct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373BC1EC-74EF-E8E7-B76D-577B33D0F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 POINT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 POINT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 POINT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 POINT</a:t>
            </a:r>
          </a:p>
        </p:txBody>
      </p:sp>
      <p:pic>
        <p:nvPicPr>
          <p:cNvPr id="23556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6467CF16-814A-252B-4A2B-D367C5B015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175" y="52388"/>
            <a:ext cx="5313363" cy="54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B2192-23BB-2DD8-FF5C-AA79B5FE981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3/27/2025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19FAD9-29EB-203E-FC21-B6DC53400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CAPSTONE PROJECT </a:t>
            </a:r>
          </a:p>
        </p:txBody>
      </p:sp>
      <p:sp>
        <p:nvSpPr>
          <p:cNvPr id="23559" name="Slide Number Placeholder 6">
            <a:extLst>
              <a:ext uri="{FF2B5EF4-FFF2-40B4-BE49-F238E27FC236}">
                <a16:creationId xmlns:a16="http://schemas.microsoft.com/office/drawing/2014/main" id="{2C8670C8-D609-3221-884F-95FB5ADB95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5250E062-B0EC-43AA-8478-25E0B416DD2F}" type="slidenum">
              <a:rPr lang="en-US" altLang="en-US" sz="120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98EF6E80-DEA6-80D5-08EA-ADF3D9C6D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450" y="2543175"/>
            <a:ext cx="10515600" cy="2125663"/>
          </a:xfrm>
        </p:spPr>
        <p:txBody>
          <a:bodyPr/>
          <a:lstStyle/>
          <a:p>
            <a:pPr algn="ctr" eaLnBrk="1" hangingPunct="1"/>
            <a:r>
              <a:rPr lang="en-US" altLang="en-US" sz="720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</a:p>
        </p:txBody>
      </p:sp>
      <p:pic>
        <p:nvPicPr>
          <p:cNvPr id="24579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592F3D8D-951B-D531-4841-ECBC0949D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175" y="52388"/>
            <a:ext cx="5313363" cy="54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8E7F55-4702-B427-B59C-292D6DE6D39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3/27/2025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46F894-10CB-6708-69AB-FB23F43F4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CAPSTONE PROJECT </a:t>
            </a:r>
          </a:p>
        </p:txBody>
      </p:sp>
      <p:sp>
        <p:nvSpPr>
          <p:cNvPr id="24582" name="Slide Number Placeholder 6">
            <a:extLst>
              <a:ext uri="{FF2B5EF4-FFF2-40B4-BE49-F238E27FC236}">
                <a16:creationId xmlns:a16="http://schemas.microsoft.com/office/drawing/2014/main" id="{4989D429-8477-3602-CFD9-6AE1ECC8A6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5EEC6DC4-43A9-4966-817B-718361139C06}" type="slidenum">
              <a:rPr lang="en-US" altLang="en-US" sz="120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1432</Words>
  <Application>Microsoft Office PowerPoint</Application>
  <PresentationFormat>Widescreen</PresentationFormat>
  <Paragraphs>192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Office Theme</vt:lpstr>
      <vt:lpstr>ReLink: A Mobile-Based Similarity Matching Framework for Efficient Lost Item Recovery in Educational Institutions</vt:lpstr>
      <vt:lpstr>AGENDA </vt:lpstr>
      <vt:lpstr>ABSTRACT </vt:lpstr>
      <vt:lpstr>INTRODUCTION </vt:lpstr>
      <vt:lpstr>LITERATURE REVIEW </vt:lpstr>
      <vt:lpstr>LITERATURE REVIEW </vt:lpstr>
      <vt:lpstr>PROBLEM STATEMENT </vt:lpstr>
      <vt:lpstr>OBJECTIVES OF THE CAPSTONE PROJECT </vt:lpstr>
      <vt:lpstr>PROPOSED METHODOLOGY – ARCHITECTURE DIAGRAM </vt:lpstr>
      <vt:lpstr>APPLICATIONS OF THE RESEARCH </vt:lpstr>
      <vt:lpstr>PROJECT DEMO </vt:lpstr>
      <vt:lpstr>DESCRIPTION ABOUT THE DATASETS USED (IF AVAILABLE / OR ELSE DELETE THIS) </vt:lpstr>
      <vt:lpstr>STEPS OF PROPOSED METHODOLOGY </vt:lpstr>
      <vt:lpstr>STEPS OF PROPOSED METHODOLOGY </vt:lpstr>
      <vt:lpstr>STEPS OF PROPOSED METHODOLOGY </vt:lpstr>
      <vt:lpstr>RESULTS AND DISCUSSION</vt:lpstr>
      <vt:lpstr>RESULTS AND DISCUSSION</vt:lpstr>
      <vt:lpstr>COMPARISON AND ANALYSIS</vt:lpstr>
      <vt:lpstr>CONCLUSION</vt:lpstr>
      <vt:lpstr>FUTURE ENHANCEMENTS</vt:lpstr>
      <vt:lpstr>REFERENCES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PROJECT</dc:title>
  <dc:creator>win10</dc:creator>
  <cp:lastModifiedBy>rashmi naurene</cp:lastModifiedBy>
  <cp:revision>25</cp:revision>
  <dcterms:created xsi:type="dcterms:W3CDTF">2025-03-26T04:06:15Z</dcterms:created>
  <dcterms:modified xsi:type="dcterms:W3CDTF">2026-07-29T02:44:59Z</dcterms:modified>
</cp:coreProperties>
</file>